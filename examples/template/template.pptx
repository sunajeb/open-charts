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 marL="0" indent="0">
      <a:defRPr sz="1800">
        <a:solidFill>
          <a:schemeClr val="tx1"/>
        </a:solidFill>
        <a:latin typeface="+mn-lt"/>
      </a:defRPr>
    </a:lvl1pPr>
  </p:defaultTextStyle>
  <p:extLst>
    <p:ext uri="{521415D9-36F7-43E2-AB2F-B90AF26B5E84}">
      <p14:sectionLst xmlns:p14="http://schemas.microsoft.com/office/powerpoint/2010/main">
        <p14:section name="Introduction" id="{6C1A7E52-3A0B-4C58-9C0E-1F2B3C4D5E61}">
          <p14:sldIdLst>
            <p14:sldId id="256"/>
            <p14:sldId id="257"/>
          </p14:sldIdLst>
        </p14:section>
        <p14:section name="Analysis" id="{7D2B8F63-4B1C-4D69-8D1F-2A3B4C5D6E72}">
          <p14:sldIdLst>
            <p14:sldId id="258"/>
            <p14:sldId id="259"/>
            <p14:sldId id="260"/>
            <p14:sldId id="261"/>
            <p14:sldId id="262"/>
          </p14:sldIdLst>
        </p14:section>
        <p14:section name="Close" id="{8E3C9074-5C2D-4E7A-9E20-3B4C5D6E7F83}">
          <p14:sldIdLst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064000"/>
            <a:ext cx="5486400" cy="3810000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</a:t>
            </a:r>
            <a:r>
              <a:rPr lang="en-US" dirty="0"/>
              <a:t>{{revenue_note}}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/>
          <a:p>
            <a:r>
              <a:rPr lang="en-US" dirty="0"/>
              <a:t>Click to edit 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56000"/>
            <a:ext cx="10363200" cy="635000"/>
          </a:xfrm>
        </p:spPr>
        <p:txBody>
          <a:bodyPr/>
          <a:lstStyle/>
          <a:p>
            <a:r>
              <a:rPr lang="en-US" dirty="0"/>
              <a:t>Click to edit subtitle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9400"/>
            <a:ext cx="11277600" cy="7112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11277600" cy="4876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9400"/>
            <a:ext cx="11277600" cy="7112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5486400" cy="4876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219200"/>
            <a:ext cx="5486400" cy="4876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9400"/>
            <a:ext cx="11277600" cy="7112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11277600" cy="4876800"/>
          </a:xfrm>
        </p:spPr>
        <p:txBody>
          <a:bodyPr/>
          <a:lstStyle/>
          <a:p>
            <a:r>
              <a:rPr lang="en-US" dirty="0"/>
              <a:t>Click to edit Master text styles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400800"/>
            <a:ext cx="7620000" cy="254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rand bar"/>
          <p:cNvSpPr/>
          <p:nvPr userDrawn="1"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defRPr sz="2600" b="1">
          <a:solidFill>
            <a:schemeClr val="tx2"/>
          </a:solidFill>
          <a:latin typeface="+mj-lt"/>
        </a:defRPr>
      </a:lvl1pPr>
    </p:titleStyle>
    <p:bodyStyle>
      <a:lvl1pPr marL="0" indent="0">
        <a:defRPr sz="1800">
          <a:solidFill>
            <a:schemeClr val="tx1"/>
          </a:solidFill>
          <a:latin typeface="+mn-lt"/>
        </a:defRPr>
      </a:lvl1pPr>
      <a:lvl2pPr marL="228600" indent="0">
        <a:defRPr sz="1600">
          <a:solidFill>
            <a:schemeClr val="tx1"/>
          </a:solidFill>
          <a:latin typeface="+mn-lt"/>
        </a:defRPr>
      </a:lvl2pPr>
      <a:lvl3pPr marL="457200" indent="0">
        <a:defRPr sz="1400">
          <a:solidFill>
            <a:schemeClr val="tx1"/>
          </a:solidFill>
          <a:latin typeface="+mn-lt"/>
        </a:defRPr>
      </a:lvl3pPr>
    </p:bodyStyle>
    <p:otherStyle>
      <a:lvl1pPr marL="0" indent="0"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{{</a:t>
            </a:r>
            <a:r>
              <a:rPr lang="en-GB" dirty="0"/>
              <a:t>client</a:t>
            </a:r>
            <a:r>
              <a:rPr lang="en-US" dirty="0"/>
              <a:t>}}: {{project}}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Board update ·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revenue comes from</a:t>
            </a:r>
          </a:p>
          <a:p>
            <a:r>
              <a:rPr lang="en-US" dirty="0"/>
              <a:t>Channel mix</a:t>
            </a:r>
          </a:p>
          <a:p>
            <a:r>
              <a:rPr lang="en-US" dirty="0"/>
              <a:t>Regions</a:t>
            </a:r>
          </a:p>
          <a:p>
            <a:r>
              <a:rPr lang="en-US" dirty="0"/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{{revenue_title}}</a:t>
            </a:r>
          </a:p>
        </p:txBody>
      </p:sp>
      <p:sp>
        <p:nvSpPr>
          <p:cNvPr id="4" name="chart:revenue"/>
          <p:cNvSpPr/>
          <p:nvPr/>
        </p:nvSpPr>
        <p:spPr>
          <a:xfrm>
            <a:off x="457200" y="1219200"/>
            <a:ext cx="11277600" cy="4724400"/>
          </a:xfrm>
          <a:prstGeom prst="rect">
            <a:avLst/>
          </a:prstGeom>
          <a:solidFill>
            <a:schemeClr val="bg2"/>
          </a:solidFill>
        </p:spPr>
        <p:txBody>
          <a:bodyPr wrap="square" anchor="ctr"/>
          <a:lstStyle/>
          <a:p>
            <a:r>
              <a:rPr lang="en-US" sz="1400" dirty="0">
                <a:solidFill>
                  <a:schemeClr val="tx2"/>
                </a:solidFill>
              </a:rPr>
              <a:t>Revenue chart</a:t>
            </a:r>
          </a:p>
        </p:txBody>
      </p:sp>
      <p:sp>
        <p:nvSpPr>
          <p:cNvPr id="5" name="Source"/>
          <p:cNvSpPr/>
          <p:nvPr/>
        </p:nvSpPr>
        <p:spPr>
          <a:xfrm>
            <a:off x="457200" y="6045200"/>
            <a:ext cx="11277600" cy="254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000" dirty="0">
                <a:solidFill>
                  <a:schemeClr val="tx2"/>
                </a:solidFill>
              </a:rPr>
              <a:t>Source: {{source}}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{{mix_title}}</a:t>
            </a:r>
          </a:p>
        </p:txBody>
      </p:sp>
      <p:sp>
        <p:nvSpPr>
          <p:cNvPr id="3" name="chart:mix_left"/>
          <p:cNvSpPr>
            <a:spLocks noGrp="1"/>
          </p:cNvSpPr>
          <p:nvPr>
            <p:ph sz="half" idx="1"/>
          </p:nvPr>
        </p:nvSpPr>
        <p:spPr/>
      </p:sp>
      <p:sp>
        <p:nvSpPr>
          <p:cNvPr id="4" name="chart:mix_right"/>
          <p:cNvSpPr>
            <a:spLocks noGrp="1"/>
          </p:cNvSpPr>
          <p:nvPr>
            <p:ph sz="half" idx="2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{{region}}: </a:t>
            </a:r>
            <a:r>
              <a:rPr lang="en-US" dirty="0"/>
              <a:t>{{headline}}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19200"/>
            <a:ext cx="7620000" cy="4876800"/>
          </a:xfrm>
          <a:prstGeom prst="rect">
            <a:avLst/>
          </a:prstGeom>
          <a:solidFill>
            <a:schemeClr val="bg2"/>
          </a:solidFill>
        </p:spPr>
        <p:txBody>
          <a:bodyPr wrap="square" anchor="ctr"/>
          <a:lstStyle/>
          <a:p>
            <a:r>
              <a:rPr lang="en-US" dirty="0"/>
              <a:t>{{chart:region_sales}}</a:t>
            </a:r>
          </a:p>
        </p:txBody>
      </p:sp>
      <p:sp>
        <p:nvSpPr>
          <p:cNvPr id="5" name="Comment"/>
          <p:cNvSpPr/>
          <p:nvPr/>
        </p:nvSpPr>
        <p:spPr>
          <a:xfrm>
            <a:off x="8382000" y="1219200"/>
            <a:ext cx="3352800" cy="4876800"/>
          </a:xfrm>
          <a:prstGeom prst="rect">
            <a:avLst/>
          </a:prstGeom>
          <a:solidFill>
            <a:schemeClr val="lt2"/>
          </a:solidFill>
        </p:spPr>
        <p:txBody>
          <a:bodyPr wrap="square" anchor="t"/>
          <a:lstStyle/>
          <a:p>
            <a:r>
              <a:rPr lang="en-US" sz="1400" dirty="0"/>
              <a:t>{{region_comment}}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figures</a:t>
            </a:r>
          </a:p>
        </p:txBody>
      </p:sp>
      <p:graphicFrame>
        <p:nvGraphicFramePr>
          <p:cNvPr id="3" name="KPI table"/>
          <p:cNvGraphicFramePr>
            <a:graphicFrameLocks noGrp="1"/>
          </p:cNvGraphicFramePr>
          <p:nvPr/>
        </p:nvGraphicFramePr>
        <p:xfrm>
          <a:off x="914400" y="1524000"/>
          <a:ext cx="103632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00"/>
                <a:gridCol w="3454400"/>
                <a:gridCol w="34544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FY2025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FY2026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{{rev_25}}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{{rev_26}}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{{margin_25}}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{{margin_26}}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{{fte_25}}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{{fte_26}}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footprint</a:t>
            </a:r>
          </a:p>
        </p:txBody>
      </p:sp>
      <p:pic>
        <p:nvPicPr>
          <p:cNvPr id="3" name="Picture 2" descr="Footprint 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397000"/>
            <a:ext cx="609600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bor">
  <a:themeElements>
    <a:clrScheme name="Harbor">
      <a:dk1>
        <a:sysClr val="windowText" lastClr="000000"/>
      </a:dk1>
      <a:lt1>
        <a:sysClr val="window" lastClr="FFFFFF"/>
      </a:lt1>
      <a:dk2>
        <a:srgbClr val="0B3C49"/>
      </a:dk2>
      <a:lt2>
        <a:srgbClr val="EEF2F3"/>
      </a:lt2>
      <a:accent1>
        <a:srgbClr val="0F6E7A"/>
      </a:accent1>
      <a:accent2>
        <a:srgbClr val="F2A541"/>
      </a:accent2>
      <a:accent3>
        <a:srgbClr val="5FA8A0"/>
      </a:accent3>
      <a:accent4>
        <a:srgbClr val="A8D5CF"/>
      </a:accent4>
      <a:accent5>
        <a:srgbClr val="7A7A7A"/>
      </a:accent5>
      <a:accent6>
        <a:srgbClr val="C8C8C8"/>
      </a:accent6>
      <a:hlink>
        <a:srgbClr val="0F6E7A"/>
      </a:hlink>
      <a:folHlink>
        <a:srgbClr val="7A4F9E"/>
      </a:folHlink>
    </a:clrScheme>
    <a:fontScheme name="Harbo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Harbo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Harbor">
      <a:dk1>
        <a:sysClr val="windowText" lastClr="000000"/>
      </a:dk1>
      <a:lt1>
        <a:sysClr val="window" lastClr="FFFFFF"/>
      </a:lt1>
      <a:dk2>
        <a:srgbClr val="0B3C49"/>
      </a:dk2>
      <a:lt2>
        <a:srgbClr val="EEF2F3"/>
      </a:lt2>
      <a:accent1>
        <a:srgbClr val="0F6E7A"/>
      </a:accent1>
      <a:accent2>
        <a:srgbClr val="F2A541"/>
      </a:accent2>
      <a:accent3>
        <a:srgbClr val="5FA8A0"/>
      </a:accent3>
      <a:accent4>
        <a:srgbClr val="A8D5CF"/>
      </a:accent4>
      <a:accent5>
        <a:srgbClr val="7A7A7A"/>
      </a:accent5>
      <a:accent6>
        <a:srgbClr val="C8C8C8"/>
      </a:accent6>
      <a:hlink>
        <a:srgbClr val="0F6E7A"/>
      </a:hlink>
      <a:folHlink>
        <a:srgbClr val="7A4F9E"/>
      </a:folHlink>
    </a:clrScheme>
    <a:fontScheme name="Harbo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Harbo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8</Slides>
  <Notes>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Harbor client template</dc:title>
  <dc:creator>open-charts</dc:creator>
</cp:coreProperties>
</file>